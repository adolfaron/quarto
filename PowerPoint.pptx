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3120" y="16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BCCE99-5641-79F3-3ED6-DA2DB0CBB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FE610F1-5CC7-6F8D-0F46-BB2593F5B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E903B33-149A-4455-6A73-FE17FBF8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78203C6-E40B-A3FC-530E-834FB47C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0FABEEF-CC39-D1A0-C0F6-F1CD47AC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369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521AA6-4A52-C3BF-9F7A-C7EAFE6E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C81399-0D90-6AEA-59BC-4008AE461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2D37484-E0EB-5B0A-5143-4A9BBC5E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B2E1B14-BEFF-0684-B670-7A581F90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B7C9514-A22B-3A1D-5E04-F446F3AD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750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A6B927-1E6F-D535-9AB9-76DBE69E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793A8BA-4DF8-7ACE-C259-F0839FB2C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F66539-96ED-215E-31ED-42E0AAED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C93DE6-6ED1-A5A4-7D0D-9F52584F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6C638C2-8340-C8C3-FF62-D4751D15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8806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3B7B4A-47E9-29F3-A4FE-FC5BB3CF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85C219-FEA7-7741-C081-2AE8657EA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F20EB37-8C24-B864-314C-6B9F7B3C1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A305758-9DA3-AA23-6E9D-3AC3465D2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0072BFA-A04D-03CE-0C2A-6C655169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F1611C5-F57A-277D-710C-0869DEB4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368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29E043-41E3-0F87-C58D-6C1CC8094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F23E8CA-ADFA-65CF-A764-0A9345326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CF5FDA6-0182-7CE7-F099-E3FF1045E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640160C-1A06-0871-99EC-90CC375DA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EF9E121-ED30-D1C0-1866-D31D0D509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675BB86-E171-062D-9005-09D5B71D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9D63E0E-C939-1C76-5E82-E6F4E1BB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F3CA039-8F6E-1037-E71B-1A26987D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777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8D4817-808A-647C-9F9C-D2CDCAFC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CF4417E-DA9B-4362-7D9F-227224AA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B552B81-03BE-E9F9-C37C-05F63E56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6CE3FF4-74CC-4CFB-0B1D-6AA9A0F1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628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77427C3-A000-D517-04C1-0B328467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029F9AA-84A7-3FE0-6465-66DB62C5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7101F87-98ED-A790-715E-072CB97D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727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33747C-4867-DB2A-770E-22056323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703DCC-ADD3-F50E-521E-3D896B48A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8056F40-28F1-1B85-435B-512853C99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6F679F6-4319-D962-8CDE-8F912E6D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2E1E098-C614-16F5-495A-C25617AB8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63B4FB1-3369-F1D2-7611-95A2894F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576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66F6FE-25E0-2867-BB27-E05356EC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ED5EFF4-FBE3-8B29-D8DA-46DF47E45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B38E779-E6CC-349B-5476-6D5D66B9C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7B6784D-8BC9-5920-61C0-895A958D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D82482B-0C1A-00DC-ECD4-9DD728FA8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0804B79-EA50-484A-CD78-3448BA51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158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C6F142-FBFE-02DA-D51B-659FDE20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9F1B2F3-A6F3-77A1-C6D9-5120D2A1B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5B27AFC-84CA-CF82-5F62-1B7A8FE1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DDF2F2-E9D2-579C-4A8B-A901EF7D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7C6594-2275-1842-154E-1AF06BDF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995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F8454C3-F0FF-4C89-42DD-F4DD6F3D1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242C7ED-FB0C-107D-E58D-433861323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D470FE-0575-55DF-9675-BD3344CC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990BCC-DB9C-F80A-E667-567FAD9F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3FCACEC-0464-20B9-74DE-E33E4AD3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773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DC6C889-7588-5F3D-5EA7-55A51318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2259CC9-E8BE-AC6D-96B4-75ED6DD7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237294-D1F6-1C57-53A5-0AC2E0BC4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B0FF7-A7A6-4BC7-B5D7-FDFDCFF559DC}" type="datetimeFigureOut">
              <a:rPr lang="hu-HU" smtClean="0"/>
              <a:t>2026. 04. 20.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A296F33-732A-1226-C34D-D574F121D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3BDA513-B300-1951-B365-E46C4B184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53CF8-BA82-4C36-955D-7E8AF3D8BC4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702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F33C820-8071-ED98-301F-B66E36BF23B9}"/>
              </a:ext>
            </a:extLst>
          </p:cNvPr>
          <p:cNvSpPr/>
          <p:nvPr/>
        </p:nvSpPr>
        <p:spPr>
          <a:xfrm rot="19524341">
            <a:off x="2394967" y="3281998"/>
            <a:ext cx="12562214" cy="14478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4F0CBE84-4A70-1D5D-D344-C471EED3E4CB}"/>
              </a:ext>
            </a:extLst>
          </p:cNvPr>
          <p:cNvSpPr/>
          <p:nvPr/>
        </p:nvSpPr>
        <p:spPr>
          <a:xfrm rot="19524341">
            <a:off x="2715008" y="3533458"/>
            <a:ext cx="12562214" cy="1447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718E54F-F249-5002-8681-022899E3F50E}"/>
              </a:ext>
            </a:extLst>
          </p:cNvPr>
          <p:cNvSpPr txBox="1"/>
          <p:nvPr/>
        </p:nvSpPr>
        <p:spPr>
          <a:xfrm>
            <a:off x="329681" y="398106"/>
            <a:ext cx="6369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5400" noProof="0" dirty="0">
                <a:latin typeface="Bahnschrift Light" panose="020B0502040204020203" pitchFamily="34" charset="0"/>
              </a:rPr>
              <a:t>Quarto játék </a:t>
            </a:r>
            <a:r>
              <a:rPr lang="hu-HU" sz="5400" dirty="0">
                <a:latin typeface="Bahnschrift Light" panose="020B0502040204020203" pitchFamily="34" charset="0"/>
              </a:rPr>
              <a:t>p</a:t>
            </a:r>
            <a:r>
              <a:rPr lang="hu-HU" sz="5400" noProof="0" dirty="0" err="1">
                <a:latin typeface="Bahnschrift Light" panose="020B0502040204020203" pitchFamily="34" charset="0"/>
              </a:rPr>
              <a:t>rojekt</a:t>
            </a:r>
            <a:endParaRPr lang="hu-HU" sz="5400" noProof="0" dirty="0">
              <a:latin typeface="Bahnschrift Light" panose="020B0502040204020203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00CC22D-D741-F4B9-A5B0-40A64B5D79C2}"/>
              </a:ext>
            </a:extLst>
          </p:cNvPr>
          <p:cNvSpPr txBox="1"/>
          <p:nvPr/>
        </p:nvSpPr>
        <p:spPr>
          <a:xfrm>
            <a:off x="329681" y="1321436"/>
            <a:ext cx="2600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noProof="0" dirty="0">
                <a:latin typeface="Bahnschrift Light" panose="020B0502040204020203" pitchFamily="34" charset="0"/>
              </a:rPr>
              <a:t>Sebestyén Viktor – </a:t>
            </a:r>
            <a:r>
              <a:rPr lang="hu-HU" sz="1400" dirty="0">
                <a:latin typeface="Bahnschrift Light" panose="020B0502040204020203" pitchFamily="34" charset="0"/>
              </a:rPr>
              <a:t>Adolf Áron</a:t>
            </a:r>
            <a:endParaRPr lang="hu-HU" sz="1400" noProof="0" dirty="0">
              <a:latin typeface="Bahnschrift Light" panose="020B0502040204020203" pitchFamily="34" charset="0"/>
            </a:endParaRPr>
          </a:p>
        </p:txBody>
      </p:sp>
      <p:pic>
        <p:nvPicPr>
          <p:cNvPr id="1026" name="Picture 2" descr="Quarto Game : 9 Steps (with Pictures) - Instructables">
            <a:extLst>
              <a:ext uri="{FF2B5EF4-FFF2-40B4-BE49-F238E27FC236}">
                <a16:creationId xmlns:a16="http://schemas.microsoft.com/office/drawing/2014/main" id="{0EE7663B-FFF1-AF97-18C5-89176E457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2641599"/>
            <a:ext cx="5211241" cy="347585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08CDEC9F-3C4D-C27A-B1BD-552389E48365}"/>
              </a:ext>
            </a:extLst>
          </p:cNvPr>
          <p:cNvSpPr txBox="1"/>
          <p:nvPr/>
        </p:nvSpPr>
        <p:spPr>
          <a:xfrm>
            <a:off x="-6486043" y="1759154"/>
            <a:ext cx="61406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Cél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Egy egyszer</a:t>
            </a:r>
            <a:r>
              <a:rPr lang="hu-HU" sz="2400" dirty="0">
                <a:latin typeface="Bahnschrift Light" panose="020B0502040204020203" pitchFamily="34" charset="0"/>
              </a:rPr>
              <a:t>ű játék megvalósítása, de úgy hogy tanuljunk valami újat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Visual Studio </a:t>
            </a:r>
            <a:r>
              <a:rPr lang="en-US" sz="2400" noProof="0" dirty="0">
                <a:latin typeface="Bahnschrift Light" panose="020B0502040204020203" pitchFamily="34" charset="0"/>
              </a:rPr>
              <a:t>–</a:t>
            </a:r>
            <a:r>
              <a:rPr lang="hu-HU" sz="2400" noProof="0" dirty="0">
                <a:latin typeface="Bahnschrift Light" panose="020B0502040204020203" pitchFamily="34" charset="0"/>
              </a:rPr>
              <a:t> Windows </a:t>
            </a:r>
            <a:r>
              <a:rPr lang="hu-HU" sz="2400" noProof="0" dirty="0" err="1">
                <a:latin typeface="Bahnschrift Light" panose="020B0502040204020203" pitchFamily="34" charset="0"/>
              </a:rPr>
              <a:t>Forms</a:t>
            </a:r>
            <a:endParaRPr lang="hu-HU" sz="2400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A feladat egyenletes elosztása</a:t>
            </a:r>
          </a:p>
        </p:txBody>
      </p:sp>
    </p:spTree>
    <p:extLst>
      <p:ext uri="{BB962C8B-B14F-4D97-AF65-F5344CB8AC3E}">
        <p14:creationId xmlns:p14="http://schemas.microsoft.com/office/powerpoint/2010/main" val="3665128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79179-71FF-6C3B-C92B-AD741663D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650+ Drawing Of The Team Building Stock Illustrations, Royalty-Free Vector  Graphics &amp; Clip Art - iStock">
            <a:extLst>
              <a:ext uri="{FF2B5EF4-FFF2-40B4-BE49-F238E27FC236}">
                <a16:creationId xmlns:a16="http://schemas.microsoft.com/office/drawing/2014/main" id="{F2107B4B-56A2-7119-222F-CF9BF355A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009" y="7360920"/>
            <a:ext cx="5084996" cy="4237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églalap 3">
            <a:extLst>
              <a:ext uri="{FF2B5EF4-FFF2-40B4-BE49-F238E27FC236}">
                <a16:creationId xmlns:a16="http://schemas.microsoft.com/office/drawing/2014/main" id="{5610761C-26EF-F648-3470-E3CBB11266C4}"/>
              </a:ext>
            </a:extLst>
          </p:cNvPr>
          <p:cNvSpPr/>
          <p:nvPr/>
        </p:nvSpPr>
        <p:spPr>
          <a:xfrm rot="19524341">
            <a:off x="2394967" y="3281998"/>
            <a:ext cx="12562214" cy="14478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4E7AA42-4A5C-258A-1CA1-F290C224CA83}"/>
              </a:ext>
            </a:extLst>
          </p:cNvPr>
          <p:cNvSpPr/>
          <p:nvPr/>
        </p:nvSpPr>
        <p:spPr>
          <a:xfrm rot="19524341">
            <a:off x="2715008" y="3533458"/>
            <a:ext cx="12562214" cy="1447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3AEDA0D-1A61-E58D-0028-513A0BCBF13D}"/>
              </a:ext>
            </a:extLst>
          </p:cNvPr>
          <p:cNvSpPr txBox="1"/>
          <p:nvPr/>
        </p:nvSpPr>
        <p:spPr>
          <a:xfrm>
            <a:off x="329681" y="398106"/>
            <a:ext cx="6369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5400" noProof="0" dirty="0">
                <a:latin typeface="Bahnschrift Light" panose="020B0502040204020203" pitchFamily="34" charset="0"/>
              </a:rPr>
              <a:t>Quarto játék </a:t>
            </a:r>
            <a:r>
              <a:rPr lang="hu-HU" sz="5400" dirty="0">
                <a:latin typeface="Bahnschrift Light" panose="020B0502040204020203" pitchFamily="34" charset="0"/>
              </a:rPr>
              <a:t>p</a:t>
            </a:r>
            <a:r>
              <a:rPr lang="hu-HU" sz="5400" noProof="0" dirty="0" err="1">
                <a:latin typeface="Bahnschrift Light" panose="020B0502040204020203" pitchFamily="34" charset="0"/>
              </a:rPr>
              <a:t>rojekt</a:t>
            </a:r>
            <a:endParaRPr lang="hu-HU" sz="5400" noProof="0" dirty="0">
              <a:latin typeface="Bahnschrift Light" panose="020B0502040204020203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03FEEF00-6DD7-53C4-C031-B7B05C5730BC}"/>
              </a:ext>
            </a:extLst>
          </p:cNvPr>
          <p:cNvSpPr txBox="1"/>
          <p:nvPr/>
        </p:nvSpPr>
        <p:spPr>
          <a:xfrm>
            <a:off x="-2789439" y="1321436"/>
            <a:ext cx="2600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noProof="0" dirty="0">
                <a:latin typeface="Bahnschrift Light" panose="020B0502040204020203" pitchFamily="34" charset="0"/>
              </a:rPr>
              <a:t>Sebestyén Viktor – </a:t>
            </a:r>
            <a:r>
              <a:rPr lang="hu-HU" sz="1400" dirty="0">
                <a:latin typeface="Bahnschrift Light" panose="020B0502040204020203" pitchFamily="34" charset="0"/>
              </a:rPr>
              <a:t>Adolf Áron</a:t>
            </a:r>
            <a:endParaRPr lang="hu-HU" sz="1400" noProof="0" dirty="0">
              <a:latin typeface="Bahnschrift Light" panose="020B0502040204020203" pitchFamily="34" charset="0"/>
            </a:endParaRPr>
          </a:p>
        </p:txBody>
      </p:sp>
      <p:pic>
        <p:nvPicPr>
          <p:cNvPr id="1026" name="Picture 2" descr="Quarto Game : 9 Steps (with Pictures) - Instructables">
            <a:extLst>
              <a:ext uri="{FF2B5EF4-FFF2-40B4-BE49-F238E27FC236}">
                <a16:creationId xmlns:a16="http://schemas.microsoft.com/office/drawing/2014/main" id="{7811A5A9-BEB3-D7A8-551F-55F9BCDB0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240" y="2519454"/>
            <a:ext cx="5211241" cy="347585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E27E9E4F-4E1C-D04E-4444-1BF244ECBBE7}"/>
              </a:ext>
            </a:extLst>
          </p:cNvPr>
          <p:cNvSpPr txBox="1"/>
          <p:nvPr/>
        </p:nvSpPr>
        <p:spPr>
          <a:xfrm>
            <a:off x="839317" y="1859340"/>
            <a:ext cx="61406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Cél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Egy egyszer</a:t>
            </a:r>
            <a:r>
              <a:rPr lang="hu-HU" sz="2400" dirty="0">
                <a:latin typeface="Bahnschrift Light" panose="020B0502040204020203" pitchFamily="34" charset="0"/>
              </a:rPr>
              <a:t>ű játék megvalósítása, de úgy hogy tanuljunk valami újat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Visual Studio </a:t>
            </a:r>
            <a:r>
              <a:rPr lang="en-US" sz="2400" noProof="0" dirty="0">
                <a:latin typeface="Bahnschrift Light" panose="020B0502040204020203" pitchFamily="34" charset="0"/>
              </a:rPr>
              <a:t>–</a:t>
            </a:r>
            <a:r>
              <a:rPr lang="hu-HU" sz="2400" noProof="0" dirty="0">
                <a:latin typeface="Bahnschrift Light" panose="020B0502040204020203" pitchFamily="34" charset="0"/>
              </a:rPr>
              <a:t> Windows </a:t>
            </a:r>
            <a:r>
              <a:rPr lang="hu-HU" sz="2400" noProof="0" dirty="0" err="1">
                <a:latin typeface="Bahnschrift Light" panose="020B0502040204020203" pitchFamily="34" charset="0"/>
              </a:rPr>
              <a:t>Forms</a:t>
            </a:r>
            <a:endParaRPr lang="hu-HU" sz="2400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A feladat egyenletes elosztása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5CEDB8F-C330-B240-AE37-455E18A92B84}"/>
              </a:ext>
            </a:extLst>
          </p:cNvPr>
          <p:cNvSpPr txBox="1"/>
          <p:nvPr/>
        </p:nvSpPr>
        <p:spPr>
          <a:xfrm>
            <a:off x="-7475868" y="1859340"/>
            <a:ext cx="745124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Erősségeink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Optimalizálás és összetettség</a:t>
            </a:r>
            <a:endParaRPr lang="hu-HU" sz="240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Adaptivitás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Folytonos újra átgondolás egy jobb végeredményért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Összetartás</a:t>
            </a:r>
          </a:p>
        </p:txBody>
      </p:sp>
    </p:spTree>
    <p:extLst>
      <p:ext uri="{BB962C8B-B14F-4D97-AF65-F5344CB8AC3E}">
        <p14:creationId xmlns:p14="http://schemas.microsoft.com/office/powerpoint/2010/main" val="1939957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2DA6-D7B7-A009-3D8D-8620D29BD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650+ Drawing Of The Team Building Stock Illustrations, Royalty-Free Vector  Graphics &amp; Clip Art - iStock">
            <a:extLst>
              <a:ext uri="{FF2B5EF4-FFF2-40B4-BE49-F238E27FC236}">
                <a16:creationId xmlns:a16="http://schemas.microsoft.com/office/drawing/2014/main" id="{79C02152-E8F6-3F1F-3207-9109BDA2F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929" y="2807148"/>
            <a:ext cx="5084996" cy="4237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églalap 3">
            <a:extLst>
              <a:ext uri="{FF2B5EF4-FFF2-40B4-BE49-F238E27FC236}">
                <a16:creationId xmlns:a16="http://schemas.microsoft.com/office/drawing/2014/main" id="{6517FC35-24D9-6F15-B3A1-19A11BF4FEAF}"/>
              </a:ext>
            </a:extLst>
          </p:cNvPr>
          <p:cNvSpPr/>
          <p:nvPr/>
        </p:nvSpPr>
        <p:spPr>
          <a:xfrm rot="17987583">
            <a:off x="3224135" y="3068638"/>
            <a:ext cx="12562214" cy="14478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AF1E4A2-8FA3-7DA3-0031-1C138147A0E2}"/>
              </a:ext>
            </a:extLst>
          </p:cNvPr>
          <p:cNvSpPr/>
          <p:nvPr/>
        </p:nvSpPr>
        <p:spPr>
          <a:xfrm rot="17987583">
            <a:off x="3544176" y="3320098"/>
            <a:ext cx="12562214" cy="1447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3C1D514-1DED-B0AD-415F-0D3F1F554F34}"/>
              </a:ext>
            </a:extLst>
          </p:cNvPr>
          <p:cNvSpPr txBox="1"/>
          <p:nvPr/>
        </p:nvSpPr>
        <p:spPr>
          <a:xfrm>
            <a:off x="329681" y="398106"/>
            <a:ext cx="6369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5400" noProof="0" dirty="0">
                <a:latin typeface="Bahnschrift Light" panose="020B0502040204020203" pitchFamily="34" charset="0"/>
              </a:rPr>
              <a:t>Quarto játék </a:t>
            </a:r>
            <a:r>
              <a:rPr lang="hu-HU" sz="5400" dirty="0">
                <a:latin typeface="Bahnschrift Light" panose="020B0502040204020203" pitchFamily="34" charset="0"/>
              </a:rPr>
              <a:t>p</a:t>
            </a:r>
            <a:r>
              <a:rPr lang="hu-HU" sz="5400" noProof="0" dirty="0" err="1">
                <a:latin typeface="Bahnschrift Light" panose="020B0502040204020203" pitchFamily="34" charset="0"/>
              </a:rPr>
              <a:t>rojekt</a:t>
            </a:r>
            <a:endParaRPr lang="hu-HU" sz="5400" noProof="0" dirty="0">
              <a:latin typeface="Bahnschrift Light" panose="020B0502040204020203" pitchFamily="34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938FFBDB-A05F-D41D-A67F-1CBDD9BDB650}"/>
              </a:ext>
            </a:extLst>
          </p:cNvPr>
          <p:cNvSpPr txBox="1"/>
          <p:nvPr/>
        </p:nvSpPr>
        <p:spPr>
          <a:xfrm>
            <a:off x="666597" y="7170375"/>
            <a:ext cx="61406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Cél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Egy egyszer</a:t>
            </a:r>
            <a:r>
              <a:rPr lang="hu-HU" sz="2400" dirty="0">
                <a:latin typeface="Bahnschrift Light" panose="020B0502040204020203" pitchFamily="34" charset="0"/>
              </a:rPr>
              <a:t>ű játék megvalósítása, de úgy hogy tanuljunk valami újat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Visual Studio </a:t>
            </a:r>
            <a:r>
              <a:rPr lang="en-US" sz="2400" noProof="0" dirty="0">
                <a:latin typeface="Bahnschrift Light" panose="020B0502040204020203" pitchFamily="34" charset="0"/>
              </a:rPr>
              <a:t>–</a:t>
            </a:r>
            <a:r>
              <a:rPr lang="hu-HU" sz="2400" noProof="0" dirty="0">
                <a:latin typeface="Bahnschrift Light" panose="020B0502040204020203" pitchFamily="34" charset="0"/>
              </a:rPr>
              <a:t> Windows </a:t>
            </a:r>
            <a:r>
              <a:rPr lang="hu-HU" sz="2400" noProof="0" dirty="0" err="1">
                <a:latin typeface="Bahnschrift Light" panose="020B0502040204020203" pitchFamily="34" charset="0"/>
              </a:rPr>
              <a:t>Forms</a:t>
            </a:r>
            <a:endParaRPr lang="hu-HU" sz="2400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A feladat egyenletes elosztása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4127CAA-C6E6-5ED4-50C5-DB33C8DF19B2}"/>
              </a:ext>
            </a:extLst>
          </p:cNvPr>
          <p:cNvSpPr txBox="1"/>
          <p:nvPr/>
        </p:nvSpPr>
        <p:spPr>
          <a:xfrm>
            <a:off x="329681" y="1300246"/>
            <a:ext cx="745124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Erősségeink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Optimalizálás és összetettség</a:t>
            </a:r>
            <a:endParaRPr lang="hu-HU" sz="240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Adaptivitás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Folytonos újra átgondolás egy jobb végeredményért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Összetartás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89D9182-F49A-5D31-944E-FBE4CE247D8F}"/>
              </a:ext>
            </a:extLst>
          </p:cNvPr>
          <p:cNvSpPr txBox="1"/>
          <p:nvPr/>
        </p:nvSpPr>
        <p:spPr>
          <a:xfrm>
            <a:off x="-7965510" y="1300246"/>
            <a:ext cx="745124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Tapasztalatok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Egyenletes és gördülékeny észjárás</a:t>
            </a:r>
            <a:endParaRPr lang="hu-HU" sz="240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Vevőség a huncut megoldásokra (</a:t>
            </a:r>
            <a:r>
              <a:rPr lang="hu-HU" sz="2400" dirty="0" err="1">
                <a:latin typeface="Bahnschrift Light" panose="020B0502040204020203" pitchFamily="34" charset="0"/>
              </a:rPr>
              <a:t>késöbb</a:t>
            </a:r>
            <a:r>
              <a:rPr lang="hu-HU" sz="2400" dirty="0">
                <a:latin typeface="Bahnschrift Light" panose="020B0502040204020203" pitchFamily="34" charset="0"/>
              </a:rPr>
              <a:t> megcsináltuk jobbra)</a:t>
            </a:r>
          </a:p>
        </p:txBody>
      </p:sp>
    </p:spTree>
    <p:extLst>
      <p:ext uri="{BB962C8B-B14F-4D97-AF65-F5344CB8AC3E}">
        <p14:creationId xmlns:p14="http://schemas.microsoft.com/office/powerpoint/2010/main" val="3758317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35516-3A31-729D-AA30-6B8777EE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650+ Drawing Of The Team Building Stock Illustrations, Royalty-Free Vector  Graphics &amp; Clip Art - iStock">
            <a:extLst>
              <a:ext uri="{FF2B5EF4-FFF2-40B4-BE49-F238E27FC236}">
                <a16:creationId xmlns:a16="http://schemas.microsoft.com/office/drawing/2014/main" id="{1F33C80F-0E0A-9F08-04D2-4D821B606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576" y="7298395"/>
            <a:ext cx="5084996" cy="4237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églalap 3">
            <a:extLst>
              <a:ext uri="{FF2B5EF4-FFF2-40B4-BE49-F238E27FC236}">
                <a16:creationId xmlns:a16="http://schemas.microsoft.com/office/drawing/2014/main" id="{FBC5A878-9696-71C2-5A90-9431ED68B47F}"/>
              </a:ext>
            </a:extLst>
          </p:cNvPr>
          <p:cNvSpPr/>
          <p:nvPr/>
        </p:nvSpPr>
        <p:spPr>
          <a:xfrm rot="17987583">
            <a:off x="3224135" y="3068638"/>
            <a:ext cx="12562214" cy="14478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E87C0F32-02D5-42D2-480A-51739B11984B}"/>
              </a:ext>
            </a:extLst>
          </p:cNvPr>
          <p:cNvSpPr/>
          <p:nvPr/>
        </p:nvSpPr>
        <p:spPr>
          <a:xfrm rot="17987583">
            <a:off x="3544176" y="3320098"/>
            <a:ext cx="12562214" cy="1447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03A1205-284F-E537-D649-D32FA8481BBE}"/>
              </a:ext>
            </a:extLst>
          </p:cNvPr>
          <p:cNvSpPr txBox="1"/>
          <p:nvPr/>
        </p:nvSpPr>
        <p:spPr>
          <a:xfrm>
            <a:off x="329681" y="398106"/>
            <a:ext cx="6369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5400" noProof="0" dirty="0">
                <a:latin typeface="Bahnschrift Light" panose="020B0502040204020203" pitchFamily="34" charset="0"/>
              </a:rPr>
              <a:t>Quarto játék </a:t>
            </a:r>
            <a:r>
              <a:rPr lang="hu-HU" sz="5400" dirty="0">
                <a:latin typeface="Bahnschrift Light" panose="020B0502040204020203" pitchFamily="34" charset="0"/>
              </a:rPr>
              <a:t>p</a:t>
            </a:r>
            <a:r>
              <a:rPr lang="hu-HU" sz="5400" noProof="0" dirty="0" err="1">
                <a:latin typeface="Bahnschrift Light" panose="020B0502040204020203" pitchFamily="34" charset="0"/>
              </a:rPr>
              <a:t>rojekt</a:t>
            </a:r>
            <a:endParaRPr lang="hu-HU" sz="5400" noProof="0" dirty="0">
              <a:latin typeface="Bahnschrift Light" panose="020B0502040204020203" pitchFamily="34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0E1AB95-D2EF-B293-E6C4-B560DA64952B}"/>
              </a:ext>
            </a:extLst>
          </p:cNvPr>
          <p:cNvSpPr txBox="1"/>
          <p:nvPr/>
        </p:nvSpPr>
        <p:spPr>
          <a:xfrm>
            <a:off x="579378" y="7488401"/>
            <a:ext cx="745124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Erősségeink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Optimalizálás és összetettség</a:t>
            </a:r>
            <a:endParaRPr lang="hu-HU" sz="240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Adaptivitás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Folytonos újra átgondolás egy jobb végeredményért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Összetartás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3DA58AB-C207-D139-5CA4-1C66CDBC24CD}"/>
              </a:ext>
            </a:extLst>
          </p:cNvPr>
          <p:cNvSpPr txBox="1"/>
          <p:nvPr/>
        </p:nvSpPr>
        <p:spPr>
          <a:xfrm>
            <a:off x="329681" y="1475917"/>
            <a:ext cx="745124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Tapasztalatok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Egyenletes és gördülékeny észjárás</a:t>
            </a:r>
            <a:endParaRPr lang="hu-HU" sz="240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Vevőség a huncut megoldásokra (</a:t>
            </a:r>
            <a:r>
              <a:rPr lang="hu-HU" sz="2400" dirty="0" err="1">
                <a:latin typeface="Bahnschrift Light" panose="020B0502040204020203" pitchFamily="34" charset="0"/>
              </a:rPr>
              <a:t>késöbb</a:t>
            </a:r>
            <a:r>
              <a:rPr lang="hu-HU" sz="2400" dirty="0">
                <a:latin typeface="Bahnschrift Light" panose="020B0502040204020203" pitchFamily="34" charset="0"/>
              </a:rPr>
              <a:t> megcsináltuk jobbra)</a:t>
            </a:r>
          </a:p>
        </p:txBody>
      </p:sp>
    </p:spTree>
    <p:extLst>
      <p:ext uri="{BB962C8B-B14F-4D97-AF65-F5344CB8AC3E}">
        <p14:creationId xmlns:p14="http://schemas.microsoft.com/office/powerpoint/2010/main" val="1465514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C477-B4A2-E9F2-6C1B-4DC700EB9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178A7B27-3B85-AC57-98F4-26DD30313ACF}"/>
              </a:ext>
            </a:extLst>
          </p:cNvPr>
          <p:cNvSpPr/>
          <p:nvPr/>
        </p:nvSpPr>
        <p:spPr>
          <a:xfrm rot="19713330">
            <a:off x="-2171966" y="3875841"/>
            <a:ext cx="18185548" cy="215968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BAD74EF-2A83-6065-2D97-B461C2350753}"/>
              </a:ext>
            </a:extLst>
          </p:cNvPr>
          <p:cNvSpPr/>
          <p:nvPr/>
        </p:nvSpPr>
        <p:spPr>
          <a:xfrm rot="19713330">
            <a:off x="-1514210" y="4584870"/>
            <a:ext cx="18185549" cy="21596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0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D0BCC11-F3F4-904B-FF10-46ADA39CA367}"/>
              </a:ext>
            </a:extLst>
          </p:cNvPr>
          <p:cNvSpPr txBox="1"/>
          <p:nvPr/>
        </p:nvSpPr>
        <p:spPr>
          <a:xfrm>
            <a:off x="329681" y="398106"/>
            <a:ext cx="6369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5400" noProof="0" dirty="0">
                <a:latin typeface="Bahnschrift Light" panose="020B0502040204020203" pitchFamily="34" charset="0"/>
              </a:rPr>
              <a:t>Quarto játék </a:t>
            </a:r>
            <a:r>
              <a:rPr lang="hu-HU" sz="5400" dirty="0">
                <a:latin typeface="Bahnschrift Light" panose="020B0502040204020203" pitchFamily="34" charset="0"/>
              </a:rPr>
              <a:t>p</a:t>
            </a:r>
            <a:r>
              <a:rPr lang="hu-HU" sz="5400" noProof="0" dirty="0" err="1">
                <a:latin typeface="Bahnschrift Light" panose="020B0502040204020203" pitchFamily="34" charset="0"/>
              </a:rPr>
              <a:t>rojekt</a:t>
            </a:r>
            <a:endParaRPr lang="hu-HU" sz="5400" noProof="0" dirty="0">
              <a:latin typeface="Bahnschrift Light" panose="020B0502040204020203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CAB1763-F0F4-6DB9-EBE8-E035198604A4}"/>
              </a:ext>
            </a:extLst>
          </p:cNvPr>
          <p:cNvSpPr txBox="1"/>
          <p:nvPr/>
        </p:nvSpPr>
        <p:spPr>
          <a:xfrm>
            <a:off x="-8851224" y="1475917"/>
            <a:ext cx="745124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0" dirty="0">
                <a:latin typeface="Bahnschrift Light" panose="020B0502040204020203" pitchFamily="34" charset="0"/>
              </a:rPr>
              <a:t>Tapasztalatok</a:t>
            </a:r>
            <a:r>
              <a:rPr lang="en-US" sz="2400" b="1" dirty="0">
                <a:latin typeface="Bahnschrift Light" panose="020B0502040204020203" pitchFamily="34" charset="0"/>
              </a:rPr>
              <a:t>:</a:t>
            </a:r>
            <a:endParaRPr lang="hu-HU" sz="2400" b="1" noProof="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noProof="0" dirty="0">
                <a:latin typeface="Bahnschrift Light" panose="020B0502040204020203" pitchFamily="34" charset="0"/>
              </a:rPr>
              <a:t>Egyenletes és gördülékeny észjárás</a:t>
            </a:r>
            <a:endParaRPr lang="hu-HU" sz="2400" dirty="0">
              <a:latin typeface="Bahnschrift Light" panose="020B0502040204020203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dirty="0">
                <a:latin typeface="Bahnschrift Light" panose="020B0502040204020203" pitchFamily="34" charset="0"/>
              </a:rPr>
              <a:t>Vevőség a huncut megoldásokra (</a:t>
            </a:r>
            <a:r>
              <a:rPr lang="hu-HU" sz="2400" dirty="0" err="1">
                <a:latin typeface="Bahnschrift Light" panose="020B0502040204020203" pitchFamily="34" charset="0"/>
              </a:rPr>
              <a:t>késöbb</a:t>
            </a:r>
            <a:r>
              <a:rPr lang="hu-HU" sz="2400" dirty="0">
                <a:latin typeface="Bahnschrift Light" panose="020B0502040204020203" pitchFamily="34" charset="0"/>
              </a:rPr>
              <a:t> megcsináltuk jobbra)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3FB2FC26-EC3A-B3FC-2B32-3AA61C7E8CC7}"/>
              </a:ext>
            </a:extLst>
          </p:cNvPr>
          <p:cNvSpPr txBox="1"/>
          <p:nvPr/>
        </p:nvSpPr>
        <p:spPr>
          <a:xfrm rot="19668403">
            <a:off x="-8914" y="1967848"/>
            <a:ext cx="16227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noProof="0" dirty="0">
                <a:latin typeface="Arial Black" panose="020B0A04020102020204" pitchFamily="34" charset="0"/>
              </a:rPr>
              <a:t>Köszönjük szépen a figyelmet</a:t>
            </a:r>
            <a:endParaRPr lang="hu-HU" sz="6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567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179</Words>
  <Application>Microsoft Office PowerPoint</Application>
  <PresentationFormat>Szélesvásznú</PresentationFormat>
  <Paragraphs>44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Bahnschrift Light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Nébl Heidi 15</dc:creator>
  <cp:lastModifiedBy>Nébl Heidi 15</cp:lastModifiedBy>
  <cp:revision>1</cp:revision>
  <dcterms:created xsi:type="dcterms:W3CDTF">2026-04-20T19:08:31Z</dcterms:created>
  <dcterms:modified xsi:type="dcterms:W3CDTF">2026-04-20T19:16:40Z</dcterms:modified>
</cp:coreProperties>
</file>